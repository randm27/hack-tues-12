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6858000" cy="9144000"/>
  <p:embeddedFontLst>
    <p:embeddedFont>
      <p:font typeface="Arimo Bold" panose="020B0704020202020204"/>
      <p:bold r:id="rId14"/>
    </p:embeddedFont>
    <p:embeddedFont>
      <p:font typeface="Calibri" panose="020F0502020204030204"/>
      <p:regular r:id="rId15"/>
      <p:bold r:id="rId16"/>
      <p:italic r:id="rId17"/>
      <p:boldItalic r:id="rId18"/>
    </p:embeddedFont>
    <p:embeddedFont>
      <p:font typeface="Arimo" panose="020B0604020202020204"/>
      <p:regular r:id="rId19"/>
    </p:embeddedFont>
    <p:embeddedFont>
      <p:font typeface="Canva Sans" panose="020B0503030501040103"/>
      <p:regular r:id="rId20"/>
    </p:embeddedFont>
    <p:embeddedFont>
      <p:font typeface="Canva Sans Bold" panose="020B0803030501040103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6" Type="http://schemas.openxmlformats.org/officeDocument/2006/relationships/image" Target="../media/image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.jpeg"/><Relationship Id="rId4" Type="http://schemas.openxmlformats.org/officeDocument/2006/relationships/image" Target="../media/image16.png"/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jpeg"/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jpeg"/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3.jpe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6200" y="-195580"/>
            <a:ext cx="18288000" cy="1059688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-4642037" y="5143500"/>
            <a:ext cx="11112875" cy="11112875"/>
            <a:chOff x="0" y="0"/>
            <a:chExt cx="14817166" cy="14817166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4817217" cy="14817217"/>
            </a:xfrm>
            <a:custGeom>
              <a:avLst/>
              <a:gdLst/>
              <a:ahLst/>
              <a:cxnLst/>
              <a:rect l="l" t="t" r="r" b="b"/>
              <a:pathLst>
                <a:path w="14817217" h="14817217">
                  <a:moveTo>
                    <a:pt x="0" y="0"/>
                  </a:moveTo>
                  <a:lnTo>
                    <a:pt x="14817217" y="0"/>
                  </a:lnTo>
                  <a:lnTo>
                    <a:pt x="14817217" y="14817217"/>
                  </a:lnTo>
                  <a:lnTo>
                    <a:pt x="0" y="14817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3486150" y="4123395"/>
            <a:ext cx="11315700" cy="2040209"/>
            <a:chOff x="0" y="0"/>
            <a:chExt cx="15087600" cy="2720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87600" cy="2720279"/>
            </a:xfrm>
            <a:custGeom>
              <a:avLst/>
              <a:gdLst/>
              <a:ahLst/>
              <a:cxnLst/>
              <a:rect l="l" t="t" r="r" b="b"/>
              <a:pathLst>
                <a:path w="15087600" h="2720279">
                  <a:moveTo>
                    <a:pt x="0" y="0"/>
                  </a:moveTo>
                  <a:lnTo>
                    <a:pt x="15087600" y="0"/>
                  </a:lnTo>
                  <a:lnTo>
                    <a:pt x="15087600" y="2720279"/>
                  </a:lnTo>
                  <a:lnTo>
                    <a:pt x="0" y="27202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721" b="-45419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457200"/>
              <a:ext cx="15087600" cy="22630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855"/>
                </a:lnSpc>
              </a:pPr>
              <a:r>
                <a:rPr lang="en-US" sz="100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SignSpeak</a:t>
              </a:r>
              <a:endParaRPr lang="en-US" sz="100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470837" y="6163605"/>
            <a:ext cx="7772400" cy="1524000"/>
            <a:chOff x="0" y="0"/>
            <a:chExt cx="10363200" cy="2032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363200" cy="2032000"/>
            </a:xfrm>
            <a:custGeom>
              <a:avLst/>
              <a:gdLst/>
              <a:ahLst/>
              <a:cxnLst/>
              <a:rect l="l" t="t" r="r" b="b"/>
              <a:pathLst>
                <a:path w="10363200" h="2032000">
                  <a:moveTo>
                    <a:pt x="0" y="0"/>
                  </a:moveTo>
                  <a:lnTo>
                    <a:pt x="10363200" y="0"/>
                  </a:lnTo>
                  <a:lnTo>
                    <a:pt x="10363200" y="2032000"/>
                  </a:lnTo>
                  <a:lnTo>
                    <a:pt x="0" y="203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373" b="-4937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123825"/>
              <a:ext cx="10363200" cy="190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950"/>
                </a:lnSpc>
              </a:pPr>
              <a:r>
                <a:rPr lang="en-US" sz="55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chico de ciudad</a:t>
              </a:r>
              <a:endParaRPr lang="en-US" sz="55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6925108" y="9058646"/>
            <a:ext cx="3762356" cy="399307"/>
            <a:chOff x="0" y="0"/>
            <a:chExt cx="5016475" cy="5324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16500" cy="532384"/>
            </a:xfrm>
            <a:custGeom>
              <a:avLst/>
              <a:gdLst/>
              <a:ahLst/>
              <a:cxnLst/>
              <a:rect l="l" t="t" r="r" b="b"/>
              <a:pathLst>
                <a:path w="5016500" h="532384">
                  <a:moveTo>
                    <a:pt x="0" y="0"/>
                  </a:moveTo>
                  <a:lnTo>
                    <a:pt x="5016500" y="0"/>
                  </a:lnTo>
                  <a:lnTo>
                    <a:pt x="5016500" y="532384"/>
                  </a:lnTo>
                  <a:lnTo>
                    <a:pt x="0" y="53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7162540" y="-7963014"/>
            <a:ext cx="15760513" cy="15065312"/>
            <a:chOff x="0" y="0"/>
            <a:chExt cx="21014017" cy="20087082"/>
          </a:xfrm>
        </p:grpSpPr>
        <p:sp>
          <p:nvSpPr>
            <p:cNvPr id="15" name="Freeform 15" descr="A green circle with lines and circles&#10;&#10;Description automatically generated"/>
            <p:cNvSpPr/>
            <p:nvPr/>
          </p:nvSpPr>
          <p:spPr>
            <a:xfrm>
              <a:off x="0" y="0"/>
              <a:ext cx="21014055" cy="20087082"/>
            </a:xfrm>
            <a:custGeom>
              <a:avLst/>
              <a:gdLst/>
              <a:ahLst/>
              <a:cxnLst/>
              <a:rect l="l" t="t" r="r" b="b"/>
              <a:pathLst>
                <a:path w="21014055" h="20087082">
                  <a:moveTo>
                    <a:pt x="0" y="0"/>
                  </a:moveTo>
                  <a:lnTo>
                    <a:pt x="21014055" y="0"/>
                  </a:lnTo>
                  <a:lnTo>
                    <a:pt x="21014055" y="20087082"/>
                  </a:lnTo>
                  <a:lnTo>
                    <a:pt x="0" y="2008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7" name="Google Shape;87;p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190500"/>
            <a:ext cx="18627725" cy="10833735"/>
          </a:xfrm>
          <a:prstGeom prst="rect">
            <a:avLst/>
          </a:prstGeom>
        </p:spPr>
      </p:pic>
      <p:pic>
        <p:nvPicPr>
          <p:cNvPr id="143" name="Google Shape;143;p11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2400" y="8655685"/>
            <a:ext cx="2596515" cy="2346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/>
          <p:nvPr/>
        </p:nvSpPr>
        <p:spPr>
          <a:xfrm>
            <a:off x="4496435" y="1333500"/>
            <a:ext cx="929513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 panose="02060509020205020204"/>
              <a:buNone/>
            </a:pPr>
            <a:r>
              <a:rPr lang="bg-BG" sz="900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Запознай се с отбора</a:t>
            </a:r>
            <a:endParaRPr lang="bg-BG" sz="900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17139" y="3695657"/>
            <a:ext cx="15278152" cy="283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980"/>
              </a:lnSpc>
              <a:buFont typeface="Arial" panose="020B0604020202020204" pitchFamily="34" charset="0"/>
              <a:buChar char="•"/>
            </a:pPr>
            <a:r>
              <a:rPr lang="en-US" sz="284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r>
              <a:rPr lang="bg-BG" sz="3940">
                <a:solidFill>
                  <a:schemeClr val="bg1"/>
                </a:solidFill>
              </a:rPr>
              <a:t>Главни бак-ендъри: Симеон и Борис</a:t>
            </a:r>
            <a:endParaRPr lang="bg-BG" sz="3940">
              <a:solidFill>
                <a:schemeClr val="bg1"/>
              </a:solidFill>
            </a:endParaRPr>
          </a:p>
          <a:p>
            <a:pPr marL="571500" indent="-571500" algn="l">
              <a:lnSpc>
                <a:spcPts val="3980"/>
              </a:lnSpc>
              <a:buFont typeface="Arial" panose="020B0604020202020204" pitchFamily="34" charset="0"/>
              <a:buChar char="•"/>
            </a:pPr>
            <a:endParaRPr lang="bg-BG" sz="3940">
              <a:solidFill>
                <a:schemeClr val="bg1"/>
              </a:solidFill>
            </a:endParaRPr>
          </a:p>
          <a:p>
            <a:pPr marL="571500" indent="-571500" algn="l">
              <a:lnSpc>
                <a:spcPts val="3980"/>
              </a:lnSpc>
              <a:buFont typeface="Arial" panose="020B0604020202020204" pitchFamily="34" charset="0"/>
              <a:buChar char="•"/>
            </a:pPr>
            <a:r>
              <a:rPr lang="bg-BG" sz="3940">
                <a:solidFill>
                  <a:schemeClr val="bg1"/>
                </a:solidFill>
              </a:rPr>
              <a:t>Главни фронт-ендъри: Деян, Мартин и Виктор</a:t>
            </a:r>
            <a:endParaRPr sz="3940">
              <a:solidFill>
                <a:schemeClr val="bg1"/>
              </a:solidFill>
            </a:endParaRPr>
          </a:p>
          <a:p>
            <a:pPr marL="571500" indent="-571500" algn="l">
              <a:lnSpc>
                <a:spcPts val="5080"/>
              </a:lnSpc>
              <a:buFont typeface="Arial" panose="020B0604020202020204" pitchFamily="34" charset="0"/>
              <a:buChar char="•"/>
            </a:pPr>
            <a:endParaRPr lang="bg-BG" sz="3940">
              <a:solidFill>
                <a:schemeClr val="bg1"/>
              </a:solidFill>
            </a:endParaRPr>
          </a:p>
          <a:p>
            <a:pPr marL="571500" indent="-571500" algn="l">
              <a:lnSpc>
                <a:spcPts val="5080"/>
              </a:lnSpc>
              <a:buFont typeface="Arial" panose="020B0604020202020204" pitchFamily="34" charset="0"/>
              <a:buChar char="•"/>
            </a:pPr>
            <a:r>
              <a:rPr lang="bg-BG" sz="3940">
                <a:solidFill>
                  <a:schemeClr val="bg1"/>
                </a:solidFill>
              </a:rPr>
              <a:t>Ментор: Лъчезар Топалов</a:t>
            </a:r>
            <a:endParaRPr lang="bg-BG" sz="394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4724483" y="-4152656"/>
            <a:ext cx="8133045" cy="8095126"/>
            <a:chOff x="0" y="0"/>
            <a:chExt cx="10844060" cy="10793501"/>
          </a:xfrm>
        </p:grpSpPr>
        <p:sp>
          <p:nvSpPr>
            <p:cNvPr id="3" name="Freeform 3" descr="A green circle with black background&#10;&#10;Description automatically generated"/>
            <p:cNvSpPr/>
            <p:nvPr/>
          </p:nvSpPr>
          <p:spPr>
            <a:xfrm>
              <a:off x="0" y="0"/>
              <a:ext cx="10844022" cy="10793476"/>
            </a:xfrm>
            <a:custGeom>
              <a:avLst/>
              <a:gdLst/>
              <a:ahLst/>
              <a:cxnLst/>
              <a:rect l="l" t="t" r="r" b="b"/>
              <a:pathLst>
                <a:path w="10844022" h="10793476">
                  <a:moveTo>
                    <a:pt x="0" y="0"/>
                  </a:moveTo>
                  <a:lnTo>
                    <a:pt x="10844022" y="0"/>
                  </a:lnTo>
                  <a:lnTo>
                    <a:pt x="10844022" y="10793476"/>
                  </a:lnTo>
                  <a:lnTo>
                    <a:pt x="0" y="10793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1028700"/>
            <a:ext cx="18288000" cy="102870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-4489085" y="-4609348"/>
            <a:ext cx="4479560" cy="4390273"/>
            <a:chOff x="0" y="0"/>
            <a:chExt cx="5972746" cy="585369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5972810" cy="5853684"/>
            </a:xfrm>
            <a:custGeom>
              <a:avLst/>
              <a:gdLst/>
              <a:ahLst/>
              <a:cxnLst/>
              <a:rect l="l" t="t" r="r" b="b"/>
              <a:pathLst>
                <a:path w="5972810" h="5853684">
                  <a:moveTo>
                    <a:pt x="0" y="0"/>
                  </a:moveTo>
                  <a:lnTo>
                    <a:pt x="5972810" y="0"/>
                  </a:lnTo>
                  <a:lnTo>
                    <a:pt x="5972810" y="5853684"/>
                  </a:lnTo>
                  <a:lnTo>
                    <a:pt x="0" y="585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225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342900" y="0"/>
            <a:ext cx="4676775" cy="10287000"/>
            <a:chOff x="0" y="0"/>
            <a:chExt cx="62357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6235700" cy="13716000"/>
            </a:xfrm>
            <a:custGeom>
              <a:avLst/>
              <a:gdLst/>
              <a:ahLst/>
              <a:cxnLst/>
              <a:rect l="l" t="t" r="r" b="b"/>
              <a:pathLst>
                <a:path w="6235700" h="13716000">
                  <a:moveTo>
                    <a:pt x="0" y="0"/>
                  </a:moveTo>
                  <a:lnTo>
                    <a:pt x="6235700" y="0"/>
                  </a:lnTo>
                  <a:lnTo>
                    <a:pt x="62357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2630150" y="3533775"/>
            <a:ext cx="5657850" cy="6753225"/>
            <a:chOff x="0" y="0"/>
            <a:chExt cx="7543800" cy="90043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543800" cy="9004300"/>
            </a:xfrm>
            <a:custGeom>
              <a:avLst/>
              <a:gdLst/>
              <a:ahLst/>
              <a:cxnLst/>
              <a:rect l="l" t="t" r="r" b="b"/>
              <a:pathLst>
                <a:path w="7543800" h="9004300">
                  <a:moveTo>
                    <a:pt x="0" y="0"/>
                  </a:moveTo>
                  <a:lnTo>
                    <a:pt x="7543800" y="0"/>
                  </a:lnTo>
                  <a:lnTo>
                    <a:pt x="7543800" y="9004300"/>
                  </a:lnTo>
                  <a:lnTo>
                    <a:pt x="0" y="900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503550" y="559137"/>
            <a:ext cx="15280900" cy="3211450"/>
            <a:chOff x="0" y="0"/>
            <a:chExt cx="20374534" cy="42819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74533" cy="4281934"/>
            </a:xfrm>
            <a:custGeom>
              <a:avLst/>
              <a:gdLst/>
              <a:ahLst/>
              <a:cxnLst/>
              <a:rect l="l" t="t" r="r" b="b"/>
              <a:pathLst>
                <a:path w="20374533" h="4281934">
                  <a:moveTo>
                    <a:pt x="0" y="0"/>
                  </a:moveTo>
                  <a:lnTo>
                    <a:pt x="20374533" y="0"/>
                  </a:lnTo>
                  <a:lnTo>
                    <a:pt x="20374533" y="4281934"/>
                  </a:lnTo>
                  <a:lnTo>
                    <a:pt x="0" y="428193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6021" b="-1940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374534" cy="4320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800"/>
                </a:lnSpc>
              </a:pP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Проблемът на глухите хора и тези с дислексия </a:t>
              </a:r>
              <a:endParaRPr lang="en-US" sz="9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00729" y="3703912"/>
            <a:ext cx="15278152" cy="460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0"/>
              </a:lnSpc>
            </a:pPr>
            <a:r>
              <a:rPr lang="en-US" sz="284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endParaRPr lang="en-US" sz="284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849630" lvl="1" indent="-4248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Човешките преводачи - скъпи и недостъпни</a:t>
            </a:r>
            <a:endParaRPr lang="en-US" sz="393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5510"/>
              </a:lnSpc>
            </a:pPr>
          </a:p>
          <a:p>
            <a:pPr marL="849630" lvl="1" indent="-4248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К</a:t>
            </a:r>
            <a:r>
              <a:rPr lang="en-US" sz="393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омуникацията -ограничена и непълноценна.</a:t>
            </a:r>
            <a:endParaRPr lang="en-US" sz="393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5510"/>
              </a:lnSpc>
            </a:pPr>
          </a:p>
          <a:p>
            <a:pPr marL="849630" lvl="1" indent="-4248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Трудно разчитане на дълги и сложни текстове</a:t>
            </a:r>
            <a:endParaRPr lang="en-US" sz="393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5080"/>
              </a:lnSpc>
            </a:pPr>
          </a:p>
        </p:txBody>
      </p:sp>
      <p:grpSp>
        <p:nvGrpSpPr>
          <p:cNvPr id="16" name="Group 16"/>
          <p:cNvGrpSpPr/>
          <p:nvPr/>
        </p:nvGrpSpPr>
        <p:grpSpPr>
          <a:xfrm rot="0">
            <a:off x="-144275" y="7920037"/>
            <a:ext cx="3295650" cy="2676525"/>
            <a:chOff x="0" y="0"/>
            <a:chExt cx="4394200" cy="35687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4394200" cy="3568700"/>
            </a:xfrm>
            <a:custGeom>
              <a:avLst/>
              <a:gdLst/>
              <a:ahLst/>
              <a:cxnLst/>
              <a:rect l="l" t="t" r="r" b="b"/>
              <a:pathLst>
                <a:path w="4394200" h="3568700">
                  <a:moveTo>
                    <a:pt x="0" y="0"/>
                  </a:moveTo>
                  <a:lnTo>
                    <a:pt x="4394200" y="0"/>
                  </a:lnTo>
                  <a:lnTo>
                    <a:pt x="43942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9180138" y="-11919052"/>
            <a:ext cx="18572074" cy="18572074"/>
            <a:chOff x="0" y="0"/>
            <a:chExt cx="24762765" cy="24762765"/>
          </a:xfrm>
        </p:grpSpPr>
        <p:sp>
          <p:nvSpPr>
            <p:cNvPr id="3" name="Freeform 3" descr="A green circle with black background&#10;&#10;Description automatically generated"/>
            <p:cNvSpPr/>
            <p:nvPr/>
          </p:nvSpPr>
          <p:spPr>
            <a:xfrm>
              <a:off x="0" y="0"/>
              <a:ext cx="24762713" cy="24762713"/>
            </a:xfrm>
            <a:custGeom>
              <a:avLst/>
              <a:gdLst/>
              <a:ahLst/>
              <a:cxnLst/>
              <a:rect l="l" t="t" r="r" b="b"/>
              <a:pathLst>
                <a:path w="24762713" h="24762713">
                  <a:moveTo>
                    <a:pt x="0" y="0"/>
                  </a:moveTo>
                  <a:lnTo>
                    <a:pt x="24762713" y="0"/>
                  </a:lnTo>
                  <a:lnTo>
                    <a:pt x="24762713" y="24762713"/>
                  </a:lnTo>
                  <a:lnTo>
                    <a:pt x="0" y="24762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762875" y="3800475"/>
            <a:ext cx="10525125" cy="6486525"/>
            <a:chOff x="0" y="0"/>
            <a:chExt cx="14033500" cy="86487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4033500" cy="8648700"/>
            </a:xfrm>
            <a:custGeom>
              <a:avLst/>
              <a:gdLst/>
              <a:ahLst/>
              <a:cxnLst/>
              <a:rect l="l" t="t" r="r" b="b"/>
              <a:pathLst>
                <a:path w="14033500" h="8648700">
                  <a:moveTo>
                    <a:pt x="0" y="0"/>
                  </a:moveTo>
                  <a:lnTo>
                    <a:pt x="14033500" y="0"/>
                  </a:lnTo>
                  <a:lnTo>
                    <a:pt x="14033500" y="8648700"/>
                  </a:lnTo>
                  <a:lnTo>
                    <a:pt x="0" y="864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5" y="127064"/>
            <a:ext cx="18288000" cy="102870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661988" y="471764"/>
            <a:ext cx="2162175" cy="4362450"/>
            <a:chOff x="0" y="0"/>
            <a:chExt cx="2882900" cy="58166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882900" cy="5816600"/>
            </a:xfrm>
            <a:custGeom>
              <a:avLst/>
              <a:gdLst/>
              <a:ahLst/>
              <a:cxnLst/>
              <a:rect l="l" t="t" r="r" b="b"/>
              <a:pathLst>
                <a:path w="2882900" h="5816600">
                  <a:moveTo>
                    <a:pt x="0" y="0"/>
                  </a:moveTo>
                  <a:lnTo>
                    <a:pt x="2882900" y="0"/>
                  </a:lnTo>
                  <a:lnTo>
                    <a:pt x="2882900" y="5816600"/>
                  </a:lnTo>
                  <a:lnTo>
                    <a:pt x="0" y="581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743075" y="1028700"/>
            <a:ext cx="15725775" cy="1839850"/>
            <a:chOff x="0" y="0"/>
            <a:chExt cx="20967700" cy="24531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967702" cy="2453134"/>
            </a:xfrm>
            <a:custGeom>
              <a:avLst/>
              <a:gdLst/>
              <a:ahLst/>
              <a:cxnLst/>
              <a:rect l="l" t="t" r="r" b="b"/>
              <a:pathLst>
                <a:path w="20967702" h="2453134">
                  <a:moveTo>
                    <a:pt x="0" y="0"/>
                  </a:moveTo>
                  <a:lnTo>
                    <a:pt x="20967702" y="0"/>
                  </a:lnTo>
                  <a:lnTo>
                    <a:pt x="20967702" y="2453134"/>
                  </a:lnTo>
                  <a:lnTo>
                    <a:pt x="0" y="24531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43247" b="-8984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219075"/>
              <a:ext cx="20967700" cy="22340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На</a:t>
              </a: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шето решение</a:t>
              </a:r>
              <a:endParaRPr lang="en-US" sz="9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2127430" y="4023751"/>
            <a:ext cx="12321149" cy="12321149"/>
            <a:chOff x="0" y="0"/>
            <a:chExt cx="16428199" cy="16428199"/>
          </a:xfrm>
        </p:grpSpPr>
        <p:sp>
          <p:nvSpPr>
            <p:cNvPr id="14" name="Freeform 14" descr="A black and gold circle with a dot&#10;&#10;Description automatically generated"/>
            <p:cNvSpPr/>
            <p:nvPr/>
          </p:nvSpPr>
          <p:spPr>
            <a:xfrm>
              <a:off x="0" y="0"/>
              <a:ext cx="16428213" cy="16428213"/>
            </a:xfrm>
            <a:custGeom>
              <a:avLst/>
              <a:gdLst/>
              <a:ahLst/>
              <a:cxnLst/>
              <a:rect l="l" t="t" r="r" b="b"/>
              <a:pathLst>
                <a:path w="16428213" h="16428213">
                  <a:moveTo>
                    <a:pt x="0" y="0"/>
                  </a:moveTo>
                  <a:lnTo>
                    <a:pt x="16428213" y="0"/>
                  </a:lnTo>
                  <a:lnTo>
                    <a:pt x="16428213" y="16428213"/>
                  </a:lnTo>
                  <a:lnTo>
                    <a:pt x="0" y="16428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3190622" y="1930451"/>
            <a:ext cx="15097378" cy="623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5"/>
              </a:lnSpc>
            </a:pPr>
          </a:p>
          <a:p>
            <a:pPr algn="l">
              <a:lnSpc>
                <a:spcPts val="5545"/>
              </a:lnSpc>
            </a:pPr>
          </a:p>
          <a:p>
            <a:pPr marL="854710" lvl="1" indent="-427355" algn="l">
              <a:lnSpc>
                <a:spcPts val="5545"/>
              </a:lnSpc>
              <a:buFont typeface="Arial" panose="020B0604020202020204"/>
              <a:buChar char="•"/>
            </a:pP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П</a:t>
            </a: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ремахваме бариерите в комуникацията</a:t>
            </a:r>
            <a:endParaRPr lang="en-US" sz="396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545"/>
              </a:lnSpc>
            </a:pPr>
          </a:p>
          <a:p>
            <a:pPr marL="854710" lvl="1" indent="-427355" algn="l">
              <a:lnSpc>
                <a:spcPts val="5545"/>
              </a:lnSpc>
              <a:buFont typeface="Arial" panose="020B0604020202020204"/>
              <a:buChar char="•"/>
            </a:pP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П</a:t>
            </a: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равим информацията достъпна за повече хора</a:t>
            </a:r>
            <a:endParaRPr lang="en-US" sz="396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545"/>
              </a:lnSpc>
            </a:pPr>
          </a:p>
          <a:p>
            <a:pPr marL="854710" lvl="1" indent="-427355" algn="l">
              <a:lnSpc>
                <a:spcPts val="5545"/>
              </a:lnSpc>
              <a:buFont typeface="Arial" panose="020B0604020202020204"/>
              <a:buChar char="•"/>
            </a:pP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Разпознаване на жестове и опростяване на текстове</a:t>
            </a:r>
            <a:endParaRPr lang="en-US" sz="396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545"/>
              </a:lnSpc>
            </a:pPr>
          </a:p>
          <a:p>
            <a:pPr algn="l">
              <a:lnSpc>
                <a:spcPts val="55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229950" y="4000500"/>
            <a:ext cx="13373100" cy="13373100"/>
            <a:chOff x="0" y="0"/>
            <a:chExt cx="17830800" cy="17830800"/>
          </a:xfrm>
        </p:grpSpPr>
        <p:sp>
          <p:nvSpPr>
            <p:cNvPr id="3" name="Freeform 3" descr="A black circle with yellow lines&#10;&#10;Description automatically generated"/>
            <p:cNvSpPr/>
            <p:nvPr/>
          </p:nvSpPr>
          <p:spPr>
            <a:xfrm>
              <a:off x="0" y="0"/>
              <a:ext cx="17830800" cy="17830800"/>
            </a:xfrm>
            <a:custGeom>
              <a:avLst/>
              <a:gdLst/>
              <a:ahLst/>
              <a:cxnLst/>
              <a:rect l="l" t="t" r="r" b="b"/>
              <a:pathLst>
                <a:path w="17830800" h="17830800">
                  <a:moveTo>
                    <a:pt x="0" y="0"/>
                  </a:moveTo>
                  <a:lnTo>
                    <a:pt x="17830800" y="0"/>
                  </a:lnTo>
                  <a:lnTo>
                    <a:pt x="17830800" y="17830800"/>
                  </a:lnTo>
                  <a:lnTo>
                    <a:pt x="0" y="1783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2543215" y="-658901"/>
            <a:ext cx="8267795" cy="13002644"/>
            <a:chOff x="0" y="0"/>
            <a:chExt cx="11023727" cy="17336859"/>
          </a:xfrm>
        </p:grpSpPr>
        <p:sp>
          <p:nvSpPr>
            <p:cNvPr id="5" name="Freeform 5" descr="A screen shot of a clock&#10;&#10;Description automatically generated"/>
            <p:cNvSpPr/>
            <p:nvPr/>
          </p:nvSpPr>
          <p:spPr>
            <a:xfrm>
              <a:off x="0" y="0"/>
              <a:ext cx="11023727" cy="17336897"/>
            </a:xfrm>
            <a:custGeom>
              <a:avLst/>
              <a:gdLst/>
              <a:ahLst/>
              <a:cxnLst/>
              <a:rect l="l" t="t" r="r" b="b"/>
              <a:pathLst>
                <a:path w="11023727" h="17336897">
                  <a:moveTo>
                    <a:pt x="0" y="0"/>
                  </a:moveTo>
                  <a:lnTo>
                    <a:pt x="11023727" y="0"/>
                  </a:lnTo>
                  <a:lnTo>
                    <a:pt x="11023727" y="17336897"/>
                  </a:lnTo>
                  <a:lnTo>
                    <a:pt x="0" y="17336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743075" y="1000125"/>
            <a:ext cx="15725775" cy="857250"/>
            <a:chOff x="0" y="0"/>
            <a:chExt cx="20967700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67702" cy="1143000"/>
            </a:xfrm>
            <a:custGeom>
              <a:avLst/>
              <a:gdLst/>
              <a:ahLst/>
              <a:cxnLst/>
              <a:rect l="l" t="t" r="r" b="b"/>
              <a:pathLst>
                <a:path w="20967702" h="1143000">
                  <a:moveTo>
                    <a:pt x="0" y="0"/>
                  </a:moveTo>
                  <a:lnTo>
                    <a:pt x="20967702" y="0"/>
                  </a:lnTo>
                  <a:lnTo>
                    <a:pt x="20967702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7442" b="-30744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219075"/>
              <a:ext cx="209677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Използвани технологии</a:t>
              </a:r>
              <a:endParaRPr lang="en-US" sz="9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53172" y="2772416"/>
            <a:ext cx="12942499" cy="640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HTML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CSS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JavaScript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Flask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FastAPI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PyTorch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HuggingFace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62734" y="5353361"/>
            <a:ext cx="2628900" cy="3162300"/>
            <a:chOff x="0" y="0"/>
            <a:chExt cx="3505200" cy="42164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3505200" cy="4216400"/>
            </a:xfrm>
            <a:custGeom>
              <a:avLst/>
              <a:gdLst/>
              <a:ahLst/>
              <a:cxnLst/>
              <a:rect l="l" t="t" r="r" b="b"/>
              <a:pathLst>
                <a:path w="3505200" h="4216400">
                  <a:moveTo>
                    <a:pt x="0" y="0"/>
                  </a:moveTo>
                  <a:lnTo>
                    <a:pt x="3505200" y="0"/>
                  </a:lnTo>
                  <a:lnTo>
                    <a:pt x="3505200" y="4216400"/>
                  </a:lnTo>
                  <a:lnTo>
                    <a:pt x="0" y="421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70097" y="4317254"/>
            <a:ext cx="17958359" cy="17958359"/>
            <a:chOff x="0" y="0"/>
            <a:chExt cx="23944478" cy="23944478"/>
          </a:xfrm>
        </p:grpSpPr>
        <p:sp>
          <p:nvSpPr>
            <p:cNvPr id="3" name="Freeform 3" descr="A black circle with yellow lines&#10;&#10;Description automatically generated"/>
            <p:cNvSpPr/>
            <p:nvPr/>
          </p:nvSpPr>
          <p:spPr>
            <a:xfrm>
              <a:off x="0" y="0"/>
              <a:ext cx="23944453" cy="23944453"/>
            </a:xfrm>
            <a:custGeom>
              <a:avLst/>
              <a:gdLst/>
              <a:ahLst/>
              <a:cxnLst/>
              <a:rect l="l" t="t" r="r" b="b"/>
              <a:pathLst>
                <a:path w="23944453" h="23944453">
                  <a:moveTo>
                    <a:pt x="0" y="0"/>
                  </a:moveTo>
                  <a:lnTo>
                    <a:pt x="23944453" y="0"/>
                  </a:lnTo>
                  <a:lnTo>
                    <a:pt x="23944453" y="23944453"/>
                  </a:lnTo>
                  <a:lnTo>
                    <a:pt x="0" y="2394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-2571188" y="3460004"/>
            <a:ext cx="11100178" cy="11100178"/>
            <a:chOff x="0" y="0"/>
            <a:chExt cx="14800237" cy="14800237"/>
          </a:xfrm>
        </p:grpSpPr>
        <p:sp>
          <p:nvSpPr>
            <p:cNvPr id="5" name="Freeform 5" descr="A green circle with lines and dots&#10;&#10;Description automatically generated"/>
            <p:cNvSpPr/>
            <p:nvPr/>
          </p:nvSpPr>
          <p:spPr>
            <a:xfrm>
              <a:off x="0" y="0"/>
              <a:ext cx="14800199" cy="14800199"/>
            </a:xfrm>
            <a:custGeom>
              <a:avLst/>
              <a:gdLst/>
              <a:ahLst/>
              <a:cxnLst/>
              <a:rect l="l" t="t" r="r" b="b"/>
              <a:pathLst>
                <a:path w="14800199" h="14800199">
                  <a:moveTo>
                    <a:pt x="0" y="0"/>
                  </a:moveTo>
                  <a:lnTo>
                    <a:pt x="14800199" y="0"/>
                  </a:lnTo>
                  <a:lnTo>
                    <a:pt x="14800199" y="14800199"/>
                  </a:lnTo>
                  <a:lnTo>
                    <a:pt x="0" y="1480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4857750" y="2219325"/>
            <a:ext cx="8582025" cy="2924175"/>
            <a:chOff x="0" y="0"/>
            <a:chExt cx="11442700" cy="3898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42700" cy="3898900"/>
            </a:xfrm>
            <a:custGeom>
              <a:avLst/>
              <a:gdLst/>
              <a:ahLst/>
              <a:cxnLst/>
              <a:rect l="l" t="t" r="r" b="b"/>
              <a:pathLst>
                <a:path w="11442700" h="3898900">
                  <a:moveTo>
                    <a:pt x="0" y="0"/>
                  </a:moveTo>
                  <a:lnTo>
                    <a:pt x="11442700" y="0"/>
                  </a:lnTo>
                  <a:lnTo>
                    <a:pt x="11442700" y="3898900"/>
                  </a:lnTo>
                  <a:lnTo>
                    <a:pt x="0" y="38989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281112" y="3667125"/>
            <a:ext cx="15725775" cy="2036125"/>
            <a:chOff x="0" y="0"/>
            <a:chExt cx="20967700" cy="27148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967702" cy="2714833"/>
            </a:xfrm>
            <a:custGeom>
              <a:avLst/>
              <a:gdLst/>
              <a:ahLst/>
              <a:cxnLst/>
              <a:rect l="l" t="t" r="r" b="b"/>
              <a:pathLst>
                <a:path w="20967702" h="2714833">
                  <a:moveTo>
                    <a:pt x="0" y="0"/>
                  </a:moveTo>
                  <a:lnTo>
                    <a:pt x="20967702" y="0"/>
                  </a:lnTo>
                  <a:lnTo>
                    <a:pt x="20967702" y="2714833"/>
                  </a:lnTo>
                  <a:lnTo>
                    <a:pt x="0" y="27148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9439" b="-7154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371475"/>
              <a:ext cx="20967700" cy="23433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715"/>
                </a:lnSpc>
              </a:pPr>
              <a:r>
                <a:rPr lang="en-US" sz="10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Демо </a:t>
              </a:r>
              <a:endParaRPr lang="en-US" sz="10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4626761" y="5703250"/>
            <a:ext cx="3661239" cy="3190509"/>
            <a:chOff x="0" y="0"/>
            <a:chExt cx="3556000" cy="30988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3556000" cy="3098800"/>
            </a:xfrm>
            <a:custGeom>
              <a:avLst/>
              <a:gdLst/>
              <a:ahLst/>
              <a:cxnLst/>
              <a:rect l="l" t="t" r="r" b="b"/>
              <a:pathLst>
                <a:path w="3556000" h="3098800">
                  <a:moveTo>
                    <a:pt x="0" y="0"/>
                  </a:moveTo>
                  <a:lnTo>
                    <a:pt x="3556000" y="0"/>
                  </a:lnTo>
                  <a:lnTo>
                    <a:pt x="3556000" y="3098800"/>
                  </a:lnTo>
                  <a:lnTo>
                    <a:pt x="0" y="309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2668250" y="0"/>
            <a:ext cx="5619750" cy="9791700"/>
            <a:chOff x="0" y="0"/>
            <a:chExt cx="7493000" cy="130556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7493000" cy="13055600"/>
            </a:xfrm>
            <a:custGeom>
              <a:avLst/>
              <a:gdLst/>
              <a:ahLst/>
              <a:cxnLst/>
              <a:rect l="l" t="t" r="r" b="b"/>
              <a:pathLst>
                <a:path w="7493000" h="13055600">
                  <a:moveTo>
                    <a:pt x="0" y="0"/>
                  </a:moveTo>
                  <a:lnTo>
                    <a:pt x="7493000" y="0"/>
                  </a:lnTo>
                  <a:lnTo>
                    <a:pt x="7493000" y="13055600"/>
                  </a:lnTo>
                  <a:lnTo>
                    <a:pt x="0" y="130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533525" y="446150"/>
            <a:ext cx="15725775" cy="1839850"/>
            <a:chOff x="0" y="0"/>
            <a:chExt cx="20967700" cy="24531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67702" cy="2453134"/>
            </a:xfrm>
            <a:custGeom>
              <a:avLst/>
              <a:gdLst/>
              <a:ahLst/>
              <a:cxnLst/>
              <a:rect l="l" t="t" r="r" b="b"/>
              <a:pathLst>
                <a:path w="20967702" h="2453134">
                  <a:moveTo>
                    <a:pt x="0" y="0"/>
                  </a:moveTo>
                  <a:lnTo>
                    <a:pt x="20967702" y="0"/>
                  </a:lnTo>
                  <a:lnTo>
                    <a:pt x="20967702" y="2453134"/>
                  </a:lnTo>
                  <a:lnTo>
                    <a:pt x="0" y="2453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247" b="-8984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219075"/>
              <a:ext cx="20967700" cy="22340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Н</a:t>
              </a: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ашето преживяване</a:t>
              </a:r>
              <a:endParaRPr lang="en-US" sz="9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4148595" y="2286000"/>
            <a:ext cx="9205455" cy="7249063"/>
            <a:chOff x="0" y="0"/>
            <a:chExt cx="12273940" cy="96654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73942" cy="9665417"/>
            </a:xfrm>
            <a:custGeom>
              <a:avLst/>
              <a:gdLst/>
              <a:ahLst/>
              <a:cxnLst/>
              <a:rect l="l" t="t" r="r" b="b"/>
              <a:pathLst>
                <a:path w="12273942" h="9665417">
                  <a:moveTo>
                    <a:pt x="0" y="0"/>
                  </a:moveTo>
                  <a:lnTo>
                    <a:pt x="12273942" y="0"/>
                  </a:lnTo>
                  <a:lnTo>
                    <a:pt x="12273942" y="9665417"/>
                  </a:lnTo>
                  <a:lnTo>
                    <a:pt x="0" y="96654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29" r="-21164" b="4636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80975"/>
              <a:ext cx="12273940" cy="9846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46760" lvl="1" indent="-373380" algn="l">
                <a:lnSpc>
                  <a:spcPts val="5835"/>
                </a:lnSpc>
                <a:buFont typeface="Arial" panose="020B0604020202020204"/>
                <a:buChar char="•"/>
              </a:pPr>
              <a:r>
                <a:rPr lang="en-US" sz="346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Екипът се сработи моментално и всеки изпълни поставените им задачи.</a:t>
              </a:r>
              <a:endParaRPr lang="en-US" sz="346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  <a:p>
              <a:pPr algn="l">
                <a:lnSpc>
                  <a:spcPts val="5840"/>
                </a:lnSpc>
              </a:pPr>
            </a:p>
            <a:p>
              <a:pPr marL="746760" lvl="1" indent="-373380" algn="l">
                <a:lnSpc>
                  <a:spcPts val="5835"/>
                </a:lnSpc>
                <a:buFont typeface="Arial" panose="020B0604020202020204"/>
                <a:buChar char="•"/>
              </a:pPr>
              <a:r>
                <a:rPr lang="en-US" sz="346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Нашият ментор ни помaгаше през цялото приключение, което е HackTues.</a:t>
              </a:r>
              <a:endParaRPr lang="en-US" sz="346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  <a:p>
              <a:pPr algn="l">
                <a:lnSpc>
                  <a:spcPts val="5840"/>
                </a:lnSpc>
              </a:pPr>
            </a:p>
            <a:p>
              <a:pPr marL="746760" lvl="1" indent="-373380" algn="l">
                <a:lnSpc>
                  <a:spcPts val="5840"/>
                </a:lnSpc>
                <a:buFont typeface="Arial" panose="020B0604020202020204"/>
                <a:buChar char="•"/>
              </a:pPr>
              <a:r>
                <a:rPr lang="en-US" sz="346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Научихме да работим в екип, да търсим решения на глобални проблеми, Machine learning.</a:t>
              </a:r>
              <a:endParaRPr lang="en-US" sz="346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2574124" y="5648325"/>
            <a:ext cx="10287000" cy="10287000"/>
            <a:chOff x="0" y="0"/>
            <a:chExt cx="13716000" cy="13716000"/>
          </a:xfrm>
        </p:grpSpPr>
        <p:sp>
          <p:nvSpPr>
            <p:cNvPr id="13" name="Freeform 13" descr="A black and gold circle with black lines&#10;&#10;Description automatically generated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291632" y="6429388"/>
            <a:ext cx="3370835" cy="2571750"/>
            <a:chOff x="0" y="0"/>
            <a:chExt cx="4494446" cy="342900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4494446" cy="3429000"/>
            </a:xfrm>
            <a:custGeom>
              <a:avLst/>
              <a:gdLst/>
              <a:ahLst/>
              <a:cxnLst/>
              <a:rect l="l" t="t" r="r" b="b"/>
              <a:pathLst>
                <a:path w="4494446" h="3429000">
                  <a:moveTo>
                    <a:pt x="0" y="0"/>
                  </a:moveTo>
                  <a:lnTo>
                    <a:pt x="4494446" y="0"/>
                  </a:lnTo>
                  <a:lnTo>
                    <a:pt x="4494446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8" b="-128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642948" y="856640"/>
            <a:ext cx="21573896" cy="21573896"/>
            <a:chOff x="0" y="0"/>
            <a:chExt cx="28765195" cy="28765195"/>
          </a:xfrm>
        </p:grpSpPr>
        <p:sp>
          <p:nvSpPr>
            <p:cNvPr id="3" name="Freeform 3" descr="A circular object with a black background&#10;&#10;Description automatically generated"/>
            <p:cNvSpPr/>
            <p:nvPr/>
          </p:nvSpPr>
          <p:spPr>
            <a:xfrm>
              <a:off x="0" y="0"/>
              <a:ext cx="28765246" cy="28765246"/>
            </a:xfrm>
            <a:custGeom>
              <a:avLst/>
              <a:gdLst/>
              <a:ahLst/>
              <a:cxnLst/>
              <a:rect l="l" t="t" r="r" b="b"/>
              <a:pathLst>
                <a:path w="28765246" h="28765246">
                  <a:moveTo>
                    <a:pt x="0" y="0"/>
                  </a:moveTo>
                  <a:lnTo>
                    <a:pt x="28765246" y="0"/>
                  </a:lnTo>
                  <a:lnTo>
                    <a:pt x="28765246" y="28765246"/>
                  </a:lnTo>
                  <a:lnTo>
                    <a:pt x="0" y="28765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704975" y="4095750"/>
            <a:ext cx="15725775" cy="3282528"/>
            <a:chOff x="0" y="0"/>
            <a:chExt cx="20967700" cy="4376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67702" cy="4376705"/>
            </a:xfrm>
            <a:custGeom>
              <a:avLst/>
              <a:gdLst/>
              <a:ahLst/>
              <a:cxnLst/>
              <a:rect l="l" t="t" r="r" b="b"/>
              <a:pathLst>
                <a:path w="20967702" h="4376705">
                  <a:moveTo>
                    <a:pt x="0" y="0"/>
                  </a:moveTo>
                  <a:lnTo>
                    <a:pt x="20967702" y="0"/>
                  </a:lnTo>
                  <a:lnTo>
                    <a:pt x="20967702" y="4376705"/>
                  </a:lnTo>
                  <a:lnTo>
                    <a:pt x="0" y="4376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428" b="-2526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71450"/>
              <a:ext cx="20967700" cy="42052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900"/>
                </a:lnSpc>
              </a:pPr>
              <a:r>
                <a:rPr lang="en-US" sz="10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Благодарим ви за вниманието!</a:t>
              </a:r>
              <a:endParaRPr lang="en-US" sz="10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7262822" y="9031053"/>
            <a:ext cx="3762356" cy="399307"/>
            <a:chOff x="0" y="0"/>
            <a:chExt cx="5016475" cy="5324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16500" cy="532384"/>
            </a:xfrm>
            <a:custGeom>
              <a:avLst/>
              <a:gdLst/>
              <a:ahLst/>
              <a:cxnLst/>
              <a:rect l="l" t="t" r="r" b="b"/>
              <a:pathLst>
                <a:path w="5016500" h="532384">
                  <a:moveTo>
                    <a:pt x="0" y="0"/>
                  </a:moveTo>
                  <a:lnTo>
                    <a:pt x="5016500" y="0"/>
                  </a:lnTo>
                  <a:lnTo>
                    <a:pt x="5016500" y="532384"/>
                  </a:lnTo>
                  <a:lnTo>
                    <a:pt x="0" y="53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4342316" y="7377833"/>
            <a:ext cx="3945684" cy="3306439"/>
            <a:chOff x="0" y="0"/>
            <a:chExt cx="2273300" cy="19050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273300" cy="1905000"/>
            </a:xfrm>
            <a:custGeom>
              <a:avLst/>
              <a:gdLst/>
              <a:ahLst/>
              <a:cxnLst/>
              <a:rect l="l" t="t" r="r" b="b"/>
              <a:pathLst>
                <a:path w="2273300" h="1905000">
                  <a:moveTo>
                    <a:pt x="0" y="0"/>
                  </a:moveTo>
                  <a:lnTo>
                    <a:pt x="2273300" y="0"/>
                  </a:lnTo>
                  <a:lnTo>
                    <a:pt x="22733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WPS Presentation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Arimo Bold</vt:lpstr>
      <vt:lpstr>PT Mono</vt:lpstr>
      <vt:lpstr>Segoe Print</vt:lpstr>
      <vt:lpstr>Calibri</vt:lpstr>
      <vt:lpstr>Arimo</vt:lpstr>
      <vt:lpstr>Arial</vt:lpstr>
      <vt:lpstr>Canva Sans</vt:lpstr>
      <vt:lpstr>Canva Sans 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chico de ciudad</dc:title>
  <dc:creator/>
  <cp:lastModifiedBy>gmart</cp:lastModifiedBy>
  <cp:revision>6</cp:revision>
  <dcterms:created xsi:type="dcterms:W3CDTF">2006-08-16T00:00:00Z</dcterms:created>
  <dcterms:modified xsi:type="dcterms:W3CDTF">2026-03-28T01:12:45Z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3E54E2285203423EAB1C4518DE31BE3A_12</vt:lpwstr>
  </property>
  <property fmtid="{D5CDD505-2E9C-101B-9397-08002B2CF9AE}" pid="3" name="KSOProductBuildVer">
    <vt:lpwstr>1033-12.2.0.23196</vt:lpwstr>
  </property>
</Properties>
</file>